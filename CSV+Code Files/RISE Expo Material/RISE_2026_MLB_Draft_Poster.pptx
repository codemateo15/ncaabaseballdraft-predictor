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0233600" cy="31546800"/>
  <p:notesSz cx="31546800" cy="40233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A898"/>
    <a:srgbClr val="C81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16" autoAdjust="0"/>
    <p:restoredTop sz="94610"/>
  </p:normalViewPr>
  <p:slideViewPr>
    <p:cSldViewPr snapToGrid="0" snapToObjects="1">
      <p:cViewPr>
        <p:scale>
          <a:sx n="25" d="100"/>
          <a:sy n="25" d="100"/>
        </p:scale>
        <p:origin x="2034" y="-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F2340"/>
                </a:solidFill>
                <a:latin typeface="Calibri"/>
              </a:defRPr>
            </a:pPr>
            <a:r>
              <a:rPr lang="en-US" sz="1800" b="0" i="0" u="none" strike="noStrike">
                <a:solidFill>
                  <a:srgbClr val="0F2340"/>
                </a:solidFill>
                <a:latin typeface="Calibri"/>
              </a:rPr>
              <a:t>Draft Classifier — Top 8 Features (Gain)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Gain</c:v>
                </c:pt>
              </c:strCache>
            </c:strRef>
          </c:tx>
          <c:spPr>
            <a:solidFill>
              <a:srgbClr val="0F2340"/>
            </a:solidFill>
            <a:effectLst/>
          </c:spPr>
          <c:invertIfNegative val="0"/>
          <c:dPt>
            <c:idx val="7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EC5-4081-9945-D195D4F31550}"/>
              </c:ext>
            </c:extLst>
          </c:dPt>
          <c:dLbls>
            <c:dLbl>
              <c:idx val="7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anchorCtr="0"/>
                <a:lstStyle/>
                <a:p>
                  <a:pPr lvl="1" algn="ctr" rtl="0">
                    <a:defRPr sz="1500" b="0" i="0" u="none" strike="noStrike" kern="1200" baseline="0">
                      <a:solidFill>
                        <a:srgbClr val="1A1A2E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EC5-4081-9945-D195D4F3155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Conf. RPI (team)</c:v>
                </c:pt>
                <c:pt idx="1">
                  <c:v>Conf. Rank (team)</c:v>
                </c:pt>
                <c:pt idx="2">
                  <c:v>R (bat)</c:v>
                </c:pt>
                <c:pt idx="3">
                  <c:v>SLG (bat)</c:v>
                </c:pt>
                <c:pt idx="4">
                  <c:v>SO (pitch)</c:v>
                </c:pt>
                <c:pt idx="5">
                  <c:v>H (bat)</c:v>
                </c:pt>
                <c:pt idx="6">
                  <c:v>wRC (bat)</c:v>
                </c:pt>
                <c:pt idx="7">
                  <c:v>Age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5.9089999999999998</c:v>
                </c:pt>
                <c:pt idx="1">
                  <c:v>7.0670000000000002</c:v>
                </c:pt>
                <c:pt idx="2">
                  <c:v>7.2080000000000002</c:v>
                </c:pt>
                <c:pt idx="3">
                  <c:v>7.8339999999999996</c:v>
                </c:pt>
                <c:pt idx="4">
                  <c:v>7.9640000000000004</c:v>
                </c:pt>
                <c:pt idx="5">
                  <c:v>8.77</c:v>
                </c:pt>
                <c:pt idx="6">
                  <c:v>10</c:v>
                </c:pt>
                <c:pt idx="7">
                  <c:v>20.834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C5-4081-9945-D195D4F315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1A1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0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7248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hart" Target="../charts/chart1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0" cy="5303520"/>
          </a:xfrm>
          <a:prstGeom prst="rect">
            <a:avLst/>
          </a:prstGeom>
          <a:solidFill>
            <a:srgbClr val="0F23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03520"/>
            <a:ext cx="40233600" cy="1828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34747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MLB Draft Outcomes for</a:t>
            </a:r>
            <a:endParaRPr lang="en-US" sz="9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NCAA Baseball Players Using XGBoost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097280" y="3246120"/>
            <a:ext cx="3657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Mateo Biggs </a:t>
            </a:r>
            <a:r>
              <a:rPr lang="en-US" sz="4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Submission ID: 311</a:t>
            </a:r>
            <a:r>
              <a:rPr lang="en-US" sz="3600" dirty="0">
                <a:solidFill>
                  <a:srgbClr val="B0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97280" y="4160520"/>
            <a:ext cx="3657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Prof. Eric Gerber</a:t>
            </a:r>
            <a:r>
              <a:rPr lang="en-US" sz="3200" dirty="0">
                <a:solidFill>
                  <a:srgbClr val="B0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Khoury College of Computer Sciences, Northeastern University   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5943600"/>
            <a:ext cx="12588240" cy="687705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5943600"/>
            <a:ext cx="146304" cy="687705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6217920"/>
            <a:ext cx="1194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2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 Motivation</a:t>
            </a:r>
            <a:endParaRPr lang="en-US" sz="5400" dirty="0">
              <a:solidFill>
                <a:srgbClr val="00206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88720" y="7360920"/>
            <a:ext cx="117652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MLB Draft (~600 picks, 20 rounds) determines which amateur players go professional. Draft likelihood is critical for college athletes deciding whether to enter the professional leagues or return to school.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contributes: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An XGBoost draft classifier (</a:t>
            </a:r>
            <a:r>
              <a:rPr lang="en-US" sz="32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88.2% accuracy</a:t>
            </a: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college draft order regressor (</a:t>
            </a:r>
            <a:r>
              <a:rPr lang="en-US" sz="32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0.700</a:t>
            </a: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 signing bonus predictor (</a:t>
            </a:r>
            <a:r>
              <a:rPr lang="en-US" sz="32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0.734</a:t>
            </a: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731520" y="13277850"/>
            <a:ext cx="12588240" cy="8686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" y="13277850"/>
            <a:ext cx="146304" cy="86868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3000" y="13552170"/>
            <a:ext cx="1194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2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 &amp; Features</a:t>
            </a:r>
            <a:endParaRPr lang="en-US" sz="5400" dirty="0">
              <a:solidFill>
                <a:srgbClr val="00206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88720" y="14695170"/>
            <a:ext cx="11765280" cy="704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</a:t>
            </a: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ncaa_bbstats open-source Python package aggregating NCAA Stats, FanGraphs, and MLB Draft data.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16,728 player-seasons (1,438 drafted — 8.6%). Restricted to 2021–2025 to avoid equipment-era confounds and post-Covid changes.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Features: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33 player stats (ERA, WHIP, FIP, K%, wRC+, OPS)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48 team stats (win%, conf. RPI, Pythagorean expectation)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Physical attributes (height, weight, handedness), only for drafted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731520" y="22421850"/>
            <a:ext cx="12588240" cy="784479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22421850"/>
            <a:ext cx="146304" cy="784479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43000" y="22650450"/>
            <a:ext cx="1194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2060"/>
                </a:solidFill>
                <a:latin typeface="Georgia" panose="02040502050405020303" pitchFamily="18" charset="0"/>
              </a:rPr>
              <a:t>Pitching Features by Predicted Draft Status</a:t>
            </a:r>
          </a:p>
        </p:txBody>
      </p:sp>
      <p:sp>
        <p:nvSpPr>
          <p:cNvPr id="20" name="Shape 18"/>
          <p:cNvSpPr/>
          <p:nvPr/>
        </p:nvSpPr>
        <p:spPr>
          <a:xfrm>
            <a:off x="13822680" y="5943600"/>
            <a:ext cx="12588240" cy="8961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3822680" y="5943600"/>
            <a:ext cx="146304" cy="896112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4234160" y="6217920"/>
            <a:ext cx="1194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14279880" y="7360920"/>
            <a:ext cx="11765280" cy="731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XGBoost Pipeline: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Draft Probability Classifier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on balanced data (undersampled to 1,438 per class). 80/20 stratified split.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College Draft Order Regressor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among college players only. Leave-one-year-out evaluation (train 2021–2024, test 2025).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Signing Bonus Regressor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Log-transformed target with early stopping on validation MAE.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13822680" y="15361920"/>
            <a:ext cx="12588240" cy="14904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822680" y="15361920"/>
            <a:ext cx="146304" cy="1490472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4234160" y="15636240"/>
            <a:ext cx="1194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5400" dirty="0"/>
          </a:p>
        </p:txBody>
      </p:sp>
      <p:sp>
        <p:nvSpPr>
          <p:cNvPr id="36" name="Text 34"/>
          <p:cNvSpPr/>
          <p:nvPr/>
        </p:nvSpPr>
        <p:spPr>
          <a:xfrm>
            <a:off x="14398752" y="16479941"/>
            <a:ext cx="1158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Classifier (Balanced Dataset)</a:t>
            </a:r>
            <a:endParaRPr lang="en-US" sz="2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321114"/>
              </p:ext>
            </p:extLst>
          </p:nvPr>
        </p:nvGraphicFramePr>
        <p:xfrm>
          <a:off x="14398753" y="17165741"/>
          <a:ext cx="11582400" cy="1691640"/>
        </p:xfrm>
        <a:graphic>
          <a:graphicData uri="http://schemas.openxmlformats.org/drawingml/2006/table">
            <a:tbl>
              <a:tblPr/>
              <a:tblGrid>
                <a:gridCol w="2748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3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7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1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1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Drafted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Drafted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" name="Text 35"/>
          <p:cNvSpPr/>
          <p:nvPr/>
        </p:nvSpPr>
        <p:spPr>
          <a:xfrm>
            <a:off x="14398752" y="18992850"/>
            <a:ext cx="1158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Order Regressor (2025 Test)</a:t>
            </a:r>
            <a:endParaRPr lang="en-US" sz="28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858169"/>
              </p:ext>
            </p:extLst>
          </p:nvPr>
        </p:nvGraphicFramePr>
        <p:xfrm>
          <a:off x="14398752" y="19678650"/>
          <a:ext cx="11582400" cy="1691640"/>
        </p:xfrm>
        <a:graphic>
          <a:graphicData uri="http://schemas.openxmlformats.org/drawingml/2006/table">
            <a:tbl>
              <a:tblPr/>
              <a:tblGrid>
                <a:gridCol w="4272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7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2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Model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47.2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MLB Pipeline*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0.658 vs 0.841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 vs 11.3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" name="Text 36"/>
          <p:cNvSpPr/>
          <p:nvPr/>
        </p:nvSpPr>
        <p:spPr>
          <a:xfrm>
            <a:off x="14398752" y="21503640"/>
            <a:ext cx="1158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*98 matched players from MLB Pipeline Top 250</a:t>
            </a:r>
            <a:endParaRPr lang="en-US" sz="2000" dirty="0"/>
          </a:p>
        </p:txBody>
      </p:sp>
      <p:sp>
        <p:nvSpPr>
          <p:cNvPr id="41" name="Text 37"/>
          <p:cNvSpPr/>
          <p:nvPr/>
        </p:nvSpPr>
        <p:spPr>
          <a:xfrm>
            <a:off x="14398752" y="26333245"/>
            <a:ext cx="1158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Bonus Regressor (n = 273)</a:t>
            </a:r>
            <a:endParaRPr lang="en-US" sz="2800" dirty="0"/>
          </a:p>
        </p:txBody>
      </p:sp>
      <p:sp>
        <p:nvSpPr>
          <p:cNvPr id="42" name="Shape 38"/>
          <p:cNvSpPr/>
          <p:nvPr/>
        </p:nvSpPr>
        <p:spPr>
          <a:xfrm>
            <a:off x="14398752" y="27064765"/>
            <a:ext cx="3708400" cy="2560320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14398752" y="27201925"/>
            <a:ext cx="37084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F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$370K*</a:t>
            </a:r>
            <a:endParaRPr lang="en-US" sz="6400" dirty="0"/>
          </a:p>
        </p:txBody>
      </p:sp>
      <p:sp>
        <p:nvSpPr>
          <p:cNvPr id="44" name="Text 40"/>
          <p:cNvSpPr/>
          <p:nvPr/>
        </p:nvSpPr>
        <p:spPr>
          <a:xfrm>
            <a:off x="14398752" y="28564381"/>
            <a:ext cx="3708400" cy="97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2400" dirty="0"/>
          </a:p>
        </p:txBody>
      </p:sp>
      <p:sp>
        <p:nvSpPr>
          <p:cNvPr id="45" name="Shape 41"/>
          <p:cNvSpPr/>
          <p:nvPr/>
        </p:nvSpPr>
        <p:spPr>
          <a:xfrm>
            <a:off x="18335752" y="27064765"/>
            <a:ext cx="3708400" cy="2560320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18335752" y="27201925"/>
            <a:ext cx="37084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F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0.448</a:t>
            </a:r>
            <a:endParaRPr lang="en-US" sz="6400" dirty="0"/>
          </a:p>
        </p:txBody>
      </p:sp>
      <p:sp>
        <p:nvSpPr>
          <p:cNvPr id="47" name="Text 43"/>
          <p:cNvSpPr/>
          <p:nvPr/>
        </p:nvSpPr>
        <p:spPr>
          <a:xfrm>
            <a:off x="18335752" y="28564381"/>
            <a:ext cx="3708400" cy="97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2400" dirty="0"/>
          </a:p>
        </p:txBody>
      </p:sp>
      <p:sp>
        <p:nvSpPr>
          <p:cNvPr id="48" name="Shape 44"/>
          <p:cNvSpPr/>
          <p:nvPr/>
        </p:nvSpPr>
        <p:spPr>
          <a:xfrm>
            <a:off x="22272752" y="27064765"/>
            <a:ext cx="3708400" cy="2560320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22272752" y="27201925"/>
            <a:ext cx="37084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F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0.734</a:t>
            </a:r>
            <a:endParaRPr lang="en-US" sz="6000" dirty="0"/>
          </a:p>
        </p:txBody>
      </p:sp>
      <p:sp>
        <p:nvSpPr>
          <p:cNvPr id="50" name="Text 46"/>
          <p:cNvSpPr/>
          <p:nvPr/>
        </p:nvSpPr>
        <p:spPr>
          <a:xfrm>
            <a:off x="22272752" y="28564381"/>
            <a:ext cx="3708400" cy="97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2400" dirty="0"/>
          </a:p>
        </p:txBody>
      </p:sp>
      <p:sp>
        <p:nvSpPr>
          <p:cNvPr id="51" name="Shape 47"/>
          <p:cNvSpPr/>
          <p:nvPr/>
        </p:nvSpPr>
        <p:spPr>
          <a:xfrm>
            <a:off x="26913840" y="5943600"/>
            <a:ext cx="12588240" cy="784479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26913840" y="5943600"/>
            <a:ext cx="146304" cy="784479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9"/>
          <p:cNvSpPr/>
          <p:nvPr/>
        </p:nvSpPr>
        <p:spPr>
          <a:xfrm>
            <a:off x="27325320" y="6217920"/>
            <a:ext cx="1194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2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</a:t>
            </a:r>
            <a:endParaRPr lang="en-US" sz="5400" dirty="0">
              <a:solidFill>
                <a:srgbClr val="002060"/>
              </a:solidFill>
            </a:endParaRPr>
          </a:p>
        </p:txBody>
      </p:sp>
      <p:graphicFrame>
        <p:nvGraphicFramePr>
          <p:cNvPr id="54" name="Chart 0"/>
          <p:cNvGraphicFramePr/>
          <p:nvPr>
            <p:extLst>
              <p:ext uri="{D42A27DB-BD31-4B8C-83A1-F6EECF244321}">
                <p14:modId xmlns:p14="http://schemas.microsoft.com/office/powerpoint/2010/main" val="1478088863"/>
              </p:ext>
            </p:extLst>
          </p:nvPr>
        </p:nvGraphicFramePr>
        <p:xfrm>
          <a:off x="27325320" y="7406640"/>
          <a:ext cx="117652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Text 50"/>
          <p:cNvSpPr/>
          <p:nvPr/>
        </p:nvSpPr>
        <p:spPr>
          <a:xfrm>
            <a:off x="27371040" y="11612880"/>
            <a:ext cx="11765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dominates all three models. </a:t>
            </a: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metrics (</a:t>
            </a:r>
            <a:r>
              <a:rPr lang="en-US" sz="3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wRC</a:t>
            </a: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H, SLG, R) and strikeout ability (SO) are strong secondary predictors. Team context (conf. RPI, conf. Rank) confirms scouts evaluate relative to competition.</a:t>
            </a:r>
            <a:endParaRPr lang="en-US" sz="3200" dirty="0"/>
          </a:p>
        </p:txBody>
      </p:sp>
      <p:sp>
        <p:nvSpPr>
          <p:cNvPr id="56" name="Shape 51"/>
          <p:cNvSpPr/>
          <p:nvPr/>
        </p:nvSpPr>
        <p:spPr>
          <a:xfrm>
            <a:off x="26913840" y="14218920"/>
            <a:ext cx="12588240" cy="5486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2"/>
          <p:cNvSpPr/>
          <p:nvPr/>
        </p:nvSpPr>
        <p:spPr>
          <a:xfrm>
            <a:off x="26913840" y="14218920"/>
            <a:ext cx="146304" cy="54864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3"/>
          <p:cNvSpPr/>
          <p:nvPr/>
        </p:nvSpPr>
        <p:spPr>
          <a:xfrm>
            <a:off x="27325320" y="14493240"/>
            <a:ext cx="1194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300" b="1" dirty="0">
                <a:solidFill>
                  <a:srgbClr val="002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Interaction PDP: Draft Probability</a:t>
            </a:r>
            <a:endParaRPr lang="en-US" sz="5300" dirty="0">
              <a:solidFill>
                <a:srgbClr val="002060"/>
              </a:solidFill>
            </a:endParaRPr>
          </a:p>
        </p:txBody>
      </p:sp>
      <p:sp>
        <p:nvSpPr>
          <p:cNvPr id="61" name="Shape 56"/>
          <p:cNvSpPr/>
          <p:nvPr/>
        </p:nvSpPr>
        <p:spPr>
          <a:xfrm>
            <a:off x="26913840" y="20162520"/>
            <a:ext cx="1258824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57"/>
          <p:cNvSpPr/>
          <p:nvPr/>
        </p:nvSpPr>
        <p:spPr>
          <a:xfrm>
            <a:off x="26913840" y="20162520"/>
            <a:ext cx="146304" cy="4754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8"/>
          <p:cNvSpPr/>
          <p:nvPr/>
        </p:nvSpPr>
        <p:spPr>
          <a:xfrm>
            <a:off x="27325320" y="20436840"/>
            <a:ext cx="1194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2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5400" dirty="0">
              <a:solidFill>
                <a:srgbClr val="002060"/>
              </a:solidFill>
            </a:endParaRPr>
          </a:p>
        </p:txBody>
      </p:sp>
      <p:sp>
        <p:nvSpPr>
          <p:cNvPr id="64" name="Text 59"/>
          <p:cNvSpPr/>
          <p:nvPr/>
        </p:nvSpPr>
        <p:spPr>
          <a:xfrm>
            <a:off x="27371040" y="21579840"/>
            <a:ext cx="11765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ct val="130000"/>
              </a:lnSpc>
              <a:buAutoNum type="arabicPeriod"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Prof. Gerber’s MLB draft → MiLB risks framework</a:t>
            </a:r>
          </a:p>
          <a:p>
            <a:pPr marL="514350" indent="-514350">
              <a:lnSpc>
                <a:spcPct val="130000"/>
              </a:lnSpc>
              <a:buAutoNum type="arabicPeriod"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more data in upcoming years to compare trends</a:t>
            </a:r>
          </a:p>
          <a:p>
            <a:pPr marL="514350" indent="-514350">
              <a:lnSpc>
                <a:spcPct val="130000"/>
              </a:lnSpc>
              <a:buAutoNum type="arabicPeriod"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decade or so, look back and assess model’s accuracy in predicting if a player was under- or over-valued 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Submit to the Journal of Sports Analytics</a:t>
            </a:r>
            <a:endParaRPr lang="en-US" sz="3200" dirty="0"/>
          </a:p>
        </p:txBody>
      </p:sp>
      <p:sp>
        <p:nvSpPr>
          <p:cNvPr id="65" name="Shape 60"/>
          <p:cNvSpPr/>
          <p:nvPr/>
        </p:nvSpPr>
        <p:spPr>
          <a:xfrm>
            <a:off x="26913840" y="25374600"/>
            <a:ext cx="12588240" cy="4892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1"/>
          <p:cNvSpPr/>
          <p:nvPr/>
        </p:nvSpPr>
        <p:spPr>
          <a:xfrm>
            <a:off x="26913840" y="25374600"/>
            <a:ext cx="146304" cy="4892040"/>
          </a:xfrm>
          <a:prstGeom prst="rect">
            <a:avLst/>
          </a:prstGeom>
          <a:solidFill>
            <a:srgbClr val="B0A8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2"/>
          <p:cNvSpPr/>
          <p:nvPr/>
        </p:nvSpPr>
        <p:spPr>
          <a:xfrm>
            <a:off x="27325320" y="25560429"/>
            <a:ext cx="1194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B0A8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5400" dirty="0">
              <a:solidFill>
                <a:srgbClr val="B0A898"/>
              </a:solidFill>
            </a:endParaRPr>
          </a:p>
        </p:txBody>
      </p:sp>
      <p:sp>
        <p:nvSpPr>
          <p:cNvPr id="68" name="Text 63"/>
          <p:cNvSpPr/>
          <p:nvPr/>
        </p:nvSpPr>
        <p:spPr>
          <a:xfrm>
            <a:off x="27325320" y="26563320"/>
            <a:ext cx="11765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Gerber, Eric (2023). Competing Risks Analysis of MLB Draft Data.</a:t>
            </a:r>
            <a:endParaRPr lang="en-US" sz="2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Biggs, M (2025). ncaa_bbstats Python package (1. 1. 0). </a:t>
            </a:r>
            <a:r>
              <a:rPr lang="en-US" sz="2250" i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</a:t>
            </a:r>
            <a:r>
              <a:rPr lang="en-US" sz="2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Zhao, W., Akella, V. S., Yang, S., &amp; Luo, X. (2025). Machine Learning in Baseball Analytics: Sabermetrics and Beyond. </a:t>
            </a:r>
            <a:r>
              <a:rPr lang="en-US" sz="2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r>
              <a:rPr lang="en-US" sz="2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Penn, Matthew (2023). The Value of Playing in College Baseball to Major League Baseball Organizations. </a:t>
            </a:r>
            <a:r>
              <a:rPr lang="en-US" sz="2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Renée Crown University Honors Thesis Projects.</a:t>
            </a:r>
            <a:endParaRPr lang="en-US" sz="2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Seneker, Derek (2025). Maximizing the MLB Draft: How College Performance and Leverage Impact </a:t>
            </a:r>
            <a:r>
              <a:rPr lang="en-US" sz="22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Polayer</a:t>
            </a:r>
            <a:r>
              <a:rPr lang="en-US" sz="2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Signing Bonus and Team Payoff. </a:t>
            </a:r>
            <a:r>
              <a:rPr lang="en-US" sz="2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CMC Senior Theses.</a:t>
            </a:r>
            <a:endParaRPr lang="en-US" sz="2250" dirty="0"/>
          </a:p>
        </p:txBody>
      </p:sp>
      <p:sp>
        <p:nvSpPr>
          <p:cNvPr id="69" name="Shape 64"/>
          <p:cNvSpPr/>
          <p:nvPr/>
        </p:nvSpPr>
        <p:spPr>
          <a:xfrm>
            <a:off x="0" y="30815280"/>
            <a:ext cx="40233600" cy="731520"/>
          </a:xfrm>
          <a:prstGeom prst="rect">
            <a:avLst/>
          </a:prstGeom>
          <a:solidFill>
            <a:srgbClr val="0F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5"/>
          <p:cNvSpPr/>
          <p:nvPr/>
        </p:nvSpPr>
        <p:spPr>
          <a:xfrm>
            <a:off x="914400" y="30815280"/>
            <a:ext cx="3840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2026  •  Northeastern University  •  Khoury College of Computer Sciences</a:t>
            </a:r>
            <a:endParaRPr lang="en-US" sz="2400" dirty="0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3BB9CE7F-3B63-E01F-B3C1-71B8546BB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1100" y="487677"/>
            <a:ext cx="4019551" cy="401955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8B42403-E56F-977B-1355-B99591961F5E}"/>
              </a:ext>
            </a:extLst>
          </p:cNvPr>
          <p:cNvPicPr>
            <a:picLocks/>
          </p:cNvPicPr>
          <p:nvPr/>
        </p:nvPicPr>
        <p:blipFill>
          <a:blip r:embed="rId5"/>
          <a:srcRect t="10251" r="66598"/>
          <a:stretch>
            <a:fillRect/>
          </a:stretch>
        </p:blipFill>
        <p:spPr>
          <a:xfrm>
            <a:off x="27137358" y="15354407"/>
            <a:ext cx="6217920" cy="4323669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FECF5928-DD52-0529-5DC7-76AF812BB57C}"/>
              </a:ext>
            </a:extLst>
          </p:cNvPr>
          <p:cNvPicPr>
            <a:picLocks/>
          </p:cNvPicPr>
          <p:nvPr/>
        </p:nvPicPr>
        <p:blipFill>
          <a:blip r:embed="rId6"/>
          <a:srcRect l="66290" t="11000"/>
          <a:stretch>
            <a:fillRect/>
          </a:stretch>
        </p:blipFill>
        <p:spPr>
          <a:xfrm>
            <a:off x="33243522" y="15381651"/>
            <a:ext cx="6217920" cy="4323669"/>
          </a:xfrm>
          <a:prstGeom prst="rect">
            <a:avLst/>
          </a:prstGeom>
        </p:spPr>
      </p:pic>
      <p:sp>
        <p:nvSpPr>
          <p:cNvPr id="80" name="Text 36">
            <a:extLst>
              <a:ext uri="{FF2B5EF4-FFF2-40B4-BE49-F238E27FC236}">
                <a16:creationId xmlns:a16="http://schemas.microsoft.com/office/drawing/2014/main" id="{AC5D8A34-756F-E57E-068D-0FDE69162422}"/>
              </a:ext>
            </a:extLst>
          </p:cNvPr>
          <p:cNvSpPr/>
          <p:nvPr/>
        </p:nvSpPr>
        <p:spPr>
          <a:xfrm>
            <a:off x="14398752" y="29724145"/>
            <a:ext cx="1158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*Signing bonus range: $1,000 - $9,250,000</a:t>
            </a:r>
            <a:endParaRPr lang="en-US" sz="2000" dirty="0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73370DD5-96EA-40C0-27D6-524011B5ADA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804" t="11071" r="1893" b="9809"/>
          <a:stretch>
            <a:fillRect/>
          </a:stretch>
        </p:blipFill>
        <p:spPr>
          <a:xfrm>
            <a:off x="914400" y="23930610"/>
            <a:ext cx="12405360" cy="609219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5A8680F8-B676-537D-E1F3-355382D991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79880" y="22076831"/>
            <a:ext cx="11811000" cy="43264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622</Words>
  <Application>Microsoft Office PowerPoint</Application>
  <PresentationFormat>Custom</PresentationFormat>
  <Paragraphs>86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MLB Draft Outcomes for NCAA Baseball Players Using XGBoost</dc:title>
  <dc:subject>PptxGenJS Presentation</dc:subject>
  <dc:creator>Mateo Biggs</dc:creator>
  <cp:lastModifiedBy>Mateo Biggs</cp:lastModifiedBy>
  <cp:revision>15</cp:revision>
  <dcterms:created xsi:type="dcterms:W3CDTF">2026-04-01T22:17:42Z</dcterms:created>
  <dcterms:modified xsi:type="dcterms:W3CDTF">2026-04-02T21:11:18Z</dcterms:modified>
</cp:coreProperties>
</file>