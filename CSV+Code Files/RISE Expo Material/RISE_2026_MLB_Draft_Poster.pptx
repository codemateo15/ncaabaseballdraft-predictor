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rts/chart1.xml" ContentType="application/vnd.openxmlformats-officedocument.drawingml.char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40233600" cy="31546800"/>
  <p:notesSz cx="31546800" cy="402336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8102E"/>
    <a:srgbClr val="0F2240"/>
    <a:srgbClr val="B0A89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8516" autoAdjust="0"/>
    <p:restoredTop sz="94610"/>
  </p:normalViewPr>
  <p:slideViewPr>
    <p:cSldViewPr snapToGrid="0" snapToObjects="1">
      <p:cViewPr>
        <p:scale>
          <a:sx n="104" d="100"/>
          <a:sy n="104" d="100"/>
        </p:scale>
        <p:origin x="-17280" y="-3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800" b="0" i="0" u="none" strike="noStrike">
                <a:solidFill>
                  <a:srgbClr val="0F2340"/>
                </a:solidFill>
                <a:latin typeface="Calibri"/>
              </a:defRPr>
            </a:pPr>
            <a:r>
              <a:rPr lang="en-US" sz="1800" b="0" i="0" u="none" strike="noStrike" dirty="0">
                <a:solidFill>
                  <a:srgbClr val="0F2340"/>
                </a:solidFill>
                <a:latin typeface="Calibri"/>
              </a:rPr>
              <a:t>Draft Classifier — Top 10 Features (Gain)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spPr>
            <a:solidFill>
              <a:srgbClr val="0F2340"/>
            </a:solidFill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C8102E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FC93-CA46-A7BD-45E069A6D829}"/>
              </c:ext>
            </c:extLst>
          </c:dPt>
          <c:dPt>
            <c:idx val="6"/>
            <c:invertIfNegative val="0"/>
            <c:bubble3D val="0"/>
            <c:spPr>
              <a:solidFill>
                <a:srgbClr val="002060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2-FC93-CA46-A7BD-45E069A6D829}"/>
              </c:ext>
            </c:extLst>
          </c:dPt>
          <c:dPt>
            <c:idx val="7"/>
            <c:invertIfNegative val="0"/>
            <c:bubble3D val="0"/>
            <c:spPr>
              <a:solidFill>
                <a:srgbClr val="0F2240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1EC5-4081-9945-D195D4F31550}"/>
              </c:ext>
            </c:extLst>
          </c:dPt>
          <c:dLbls>
            <c:dLbl>
              <c:idx val="0"/>
              <c:numFmt formatCode="#,##0.0" sourceLinked="0"/>
              <c:spPr>
                <a:noFill/>
                <a:ln>
                  <a:noFill/>
                </a:ln>
                <a:effectLst/>
              </c:spPr>
              <c:txPr>
                <a:bodyPr/>
                <a:lstStyle/>
                <a:p>
                  <a:pPr>
                    <a:defRPr sz="1500" b="0" i="0" u="none" strike="noStrike">
                      <a:solidFill>
                        <a:srgbClr val="1A1A2E"/>
                      </a:solidFill>
                      <a:latin typeface="Arial"/>
                    </a:defRPr>
                  </a:pPr>
                  <a:endParaRPr lang="en-US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6="http://schemas.microsoft.com/office/drawing/2014/chart" uri="{C3380CC4-5D6E-409C-BE32-E72D297353CC}">
                  <c16:uniqueId val="{00000003-FC93-CA46-A7BD-45E069A6D829}"/>
                </c:ext>
              </c:extLst>
            </c:dLbl>
            <c:dLbl>
              <c:idx val="1"/>
              <c:numFmt formatCode="#,##0.0" sourceLinked="0"/>
              <c:spPr>
                <a:noFill/>
                <a:ln>
                  <a:noFill/>
                </a:ln>
                <a:effectLst/>
              </c:spPr>
              <c:txPr>
                <a:bodyPr/>
                <a:lstStyle/>
                <a:p>
                  <a:pPr>
                    <a:defRPr sz="1500" b="0" i="0" u="none" strike="noStrike">
                      <a:solidFill>
                        <a:srgbClr val="1A1A2E"/>
                      </a:solidFill>
                      <a:latin typeface="Arial"/>
                    </a:defRPr>
                  </a:pPr>
                  <a:endParaRPr lang="en-US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6="http://schemas.microsoft.com/office/drawing/2014/chart" uri="{C3380CC4-5D6E-409C-BE32-E72D297353CC}">
                  <c16:uniqueId val="{0000000A-FC93-CA46-A7BD-45E069A6D829}"/>
                </c:ext>
              </c:extLst>
            </c:dLbl>
            <c:dLbl>
              <c:idx val="2"/>
              <c:numFmt formatCode="#,##0.0" sourceLinked="0"/>
              <c:spPr>
                <a:noFill/>
                <a:ln>
                  <a:noFill/>
                </a:ln>
                <a:effectLst/>
              </c:spPr>
              <c:txPr>
                <a:bodyPr/>
                <a:lstStyle/>
                <a:p>
                  <a:pPr>
                    <a:defRPr sz="1500" b="0" i="0" u="none" strike="noStrike">
                      <a:solidFill>
                        <a:srgbClr val="1A1A2E"/>
                      </a:solidFill>
                      <a:latin typeface="Arial"/>
                    </a:defRPr>
                  </a:pPr>
                  <a:endParaRPr lang="en-US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6="http://schemas.microsoft.com/office/drawing/2014/chart" uri="{C3380CC4-5D6E-409C-BE32-E72D297353CC}">
                  <c16:uniqueId val="{00000009-FC93-CA46-A7BD-45E069A6D829}"/>
                </c:ext>
              </c:extLst>
            </c:dLbl>
            <c:dLbl>
              <c:idx val="3"/>
              <c:numFmt formatCode="#,##0.0" sourceLinked="0"/>
              <c:spPr>
                <a:noFill/>
                <a:ln>
                  <a:noFill/>
                </a:ln>
                <a:effectLst/>
              </c:spPr>
              <c:txPr>
                <a:bodyPr/>
                <a:lstStyle/>
                <a:p>
                  <a:pPr>
                    <a:defRPr sz="1500" b="0" i="0" u="none" strike="noStrike">
                      <a:solidFill>
                        <a:srgbClr val="1A1A2E"/>
                      </a:solidFill>
                      <a:latin typeface="Arial"/>
                    </a:defRPr>
                  </a:pPr>
                  <a:endParaRPr lang="en-US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6="http://schemas.microsoft.com/office/drawing/2014/chart" uri="{C3380CC4-5D6E-409C-BE32-E72D297353CC}">
                  <c16:uniqueId val="{00000008-FC93-CA46-A7BD-45E069A6D829}"/>
                </c:ext>
              </c:extLst>
            </c:dLbl>
            <c:dLbl>
              <c:idx val="4"/>
              <c:numFmt formatCode="#,##0.0" sourceLinked="0"/>
              <c:spPr>
                <a:noFill/>
                <a:ln>
                  <a:noFill/>
                </a:ln>
                <a:effectLst/>
              </c:spPr>
              <c:txPr>
                <a:bodyPr/>
                <a:lstStyle/>
                <a:p>
                  <a:pPr>
                    <a:defRPr sz="1500" b="0" i="0" u="none" strike="noStrike">
                      <a:solidFill>
                        <a:srgbClr val="1A1A2E"/>
                      </a:solidFill>
                      <a:latin typeface="Arial"/>
                    </a:defRPr>
                  </a:pPr>
                  <a:endParaRPr lang="en-US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6="http://schemas.microsoft.com/office/drawing/2014/chart" uri="{C3380CC4-5D6E-409C-BE32-E72D297353CC}">
                  <c16:uniqueId val="{00000007-FC93-CA46-A7BD-45E069A6D829}"/>
                </c:ext>
              </c:extLst>
            </c:dLbl>
            <c:dLbl>
              <c:idx val="5"/>
              <c:numFmt formatCode="#,##0.0" sourceLinked="0"/>
              <c:spPr>
                <a:noFill/>
                <a:ln>
                  <a:noFill/>
                </a:ln>
                <a:effectLst/>
              </c:spPr>
              <c:txPr>
                <a:bodyPr/>
                <a:lstStyle/>
                <a:p>
                  <a:pPr>
                    <a:defRPr sz="1500" b="0" i="0" u="none" strike="noStrike">
                      <a:solidFill>
                        <a:srgbClr val="1A1A2E"/>
                      </a:solidFill>
                      <a:latin typeface="Arial"/>
                    </a:defRPr>
                  </a:pPr>
                  <a:endParaRPr lang="en-US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6="http://schemas.microsoft.com/office/drawing/2014/chart" uri="{C3380CC4-5D6E-409C-BE32-E72D297353CC}">
                  <c16:uniqueId val="{00000006-FC93-CA46-A7BD-45E069A6D829}"/>
                </c:ext>
              </c:extLst>
            </c:dLbl>
            <c:dLbl>
              <c:idx val="6"/>
              <c:numFmt formatCode="#,##0.0" sourceLinked="0"/>
              <c:spPr>
                <a:noFill/>
                <a:ln>
                  <a:noFill/>
                </a:ln>
                <a:effectLst/>
              </c:spPr>
              <c:txPr>
                <a:bodyPr/>
                <a:lstStyle/>
                <a:p>
                  <a:pPr>
                    <a:defRPr sz="1500" b="0" i="0" u="none" strike="noStrike">
                      <a:solidFill>
                        <a:srgbClr val="1A1A2E"/>
                      </a:solidFill>
                      <a:latin typeface="Arial"/>
                    </a:defRPr>
                  </a:pPr>
                  <a:endParaRPr lang="en-US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6="http://schemas.microsoft.com/office/drawing/2014/chart" uri="{C3380CC4-5D6E-409C-BE32-E72D297353CC}">
                  <c16:uniqueId val="{00000002-FC93-CA46-A7BD-45E069A6D829}"/>
                </c:ext>
              </c:extLst>
            </c:dLbl>
            <c:dLbl>
              <c:idx val="7"/>
              <c:numFmt formatCode="#,##0.0" sourceLinked="0"/>
              <c:spPr>
                <a:noFill/>
                <a:ln>
                  <a:noFill/>
                </a:ln>
                <a:effectLst/>
              </c:spPr>
              <c:txPr>
                <a:bodyPr anchorCtr="0"/>
                <a:lstStyle/>
                <a:p>
                  <a:pPr lvl="1" algn="ctr" rtl="0">
                    <a:defRPr sz="1500" b="0" i="0" u="none" strike="noStrike" kern="1200" baseline="0">
                      <a:solidFill>
                        <a:srgbClr val="1A1A2E"/>
                      </a:solidFill>
                      <a:latin typeface="Arial"/>
                      <a:ea typeface="+mn-ea"/>
                      <a:cs typeface="+mn-cs"/>
                    </a:defRPr>
                  </a:pPr>
                  <a:endParaRPr lang="en-US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6="http://schemas.microsoft.com/office/drawing/2014/chart" uri="{C3380CC4-5D6E-409C-BE32-E72D297353CC}">
                  <c16:uniqueId val="{00000001-1EC5-4081-9945-D195D4F31550}"/>
                </c:ext>
              </c:extLst>
            </c:dLbl>
            <c:dLbl>
              <c:idx val="8"/>
              <c:numFmt formatCode="#,##0.0" sourceLinked="0"/>
              <c:spPr>
                <a:noFill/>
                <a:ln>
                  <a:noFill/>
                </a:ln>
                <a:effectLst/>
              </c:spPr>
              <c:txPr>
                <a:bodyPr/>
                <a:lstStyle/>
                <a:p>
                  <a:pPr>
                    <a:defRPr sz="1500" b="0" i="0" u="none" strike="noStrike">
                      <a:solidFill>
                        <a:srgbClr val="1A1A2E"/>
                      </a:solidFill>
                      <a:latin typeface="Arial"/>
                    </a:defRPr>
                  </a:pPr>
                  <a:endParaRPr lang="en-US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6="http://schemas.microsoft.com/office/drawing/2014/chart" uri="{C3380CC4-5D6E-409C-BE32-E72D297353CC}">
                  <c16:uniqueId val="{00000005-FC93-CA46-A7BD-45E069A6D829}"/>
                </c:ext>
              </c:extLst>
            </c:dLbl>
            <c:dLbl>
              <c:idx val="9"/>
              <c:numFmt formatCode="#,##0.0" sourceLinked="0"/>
              <c:spPr>
                <a:noFill/>
                <a:ln>
                  <a:noFill/>
                </a:ln>
                <a:effectLst/>
              </c:spPr>
              <c:txPr>
                <a:bodyPr/>
                <a:lstStyle/>
                <a:p>
                  <a:pPr>
                    <a:defRPr sz="1500" b="0" i="0" u="none" strike="noStrike">
                      <a:solidFill>
                        <a:srgbClr val="1A1A2E"/>
                      </a:solidFill>
                      <a:latin typeface="Arial"/>
                    </a:defRPr>
                  </a:pPr>
                  <a:endParaRPr lang="en-US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6="http://schemas.microsoft.com/office/drawing/2014/chart" uri="{C3380CC4-5D6E-409C-BE32-E72D297353CC}">
                  <c16:uniqueId val="{00000004-FC93-CA46-A7BD-45E069A6D829}"/>
                </c:ext>
              </c:extLst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500" b="0" i="0" u="none" strike="noStrike">
                    <a:solidFill>
                      <a:srgbClr val="1A1A2E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Age</c:v>
                </c:pt>
                <c:pt idx="1">
                  <c:v>RPI (team)</c:v>
                </c:pt>
                <c:pt idx="2">
                  <c:v>wRC (bat)</c:v>
                </c:pt>
                <c:pt idx="3">
                  <c:v>SLG (bat)</c:v>
                </c:pt>
                <c:pt idx="4">
                  <c:v>SO (pitch)</c:v>
                </c:pt>
                <c:pt idx="5">
                  <c:v>SOS (team)</c:v>
                </c:pt>
                <c:pt idx="6">
                  <c:v>R (bat)</c:v>
                </c:pt>
                <c:pt idx="7">
                  <c:v>H (bat)</c:v>
                </c:pt>
                <c:pt idx="8">
                  <c:v>Conf. RPI (team)</c:v>
                </c:pt>
                <c:pt idx="9">
                  <c:v>OPS (bat)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18.5</c:v>
                </c:pt>
                <c:pt idx="1">
                  <c:v>13.5</c:v>
                </c:pt>
                <c:pt idx="2">
                  <c:v>9.6</c:v>
                </c:pt>
                <c:pt idx="3">
                  <c:v>9.3000000000000007</c:v>
                </c:pt>
                <c:pt idx="4">
                  <c:v>9.1</c:v>
                </c:pt>
                <c:pt idx="5">
                  <c:v>7.3</c:v>
                </c:pt>
                <c:pt idx="6">
                  <c:v>6</c:v>
                </c:pt>
                <c:pt idx="7">
                  <c:v>5.6</c:v>
                </c:pt>
                <c:pt idx="8">
                  <c:v>5.0999999999999996</c:v>
                </c:pt>
                <c:pt idx="9">
                  <c:v>4.9000000000000004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EC5-4081-9945-D195D4F31550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700" b="0" i="0" u="none" strike="noStrike">
                <a:solidFill>
                  <a:srgbClr val="1A1A2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8E0D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4A556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0724862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chart" Target="../charts/chart1.xml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3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233600" cy="5303520"/>
          </a:xfrm>
          <a:prstGeom prst="rect">
            <a:avLst/>
          </a:prstGeom>
          <a:solidFill>
            <a:srgbClr val="0F2340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03520"/>
            <a:ext cx="40233600" cy="182880"/>
          </a:xfrm>
          <a:prstGeom prst="rect">
            <a:avLst/>
          </a:prstGeom>
          <a:solidFill>
            <a:srgbClr val="C8102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1097280" y="274320"/>
            <a:ext cx="347472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9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Predicting MLB Draft Outcomes for</a:t>
            </a:r>
            <a:endParaRPr lang="en-US" sz="9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NCAA Baseball Players Using XGBoost</a:t>
            </a:r>
            <a:endParaRPr lang="en-US" sz="9000" dirty="0"/>
          </a:p>
        </p:txBody>
      </p:sp>
      <p:sp>
        <p:nvSpPr>
          <p:cNvPr id="5" name="Text 3"/>
          <p:cNvSpPr/>
          <p:nvPr/>
        </p:nvSpPr>
        <p:spPr>
          <a:xfrm>
            <a:off x="1097280" y="3246120"/>
            <a:ext cx="3657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Mateo Biggs </a:t>
            </a:r>
            <a:r>
              <a:rPr lang="en-US" sz="4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 Submission ID: 311</a:t>
            </a:r>
            <a:r>
              <a:rPr lang="en-US" sz="3600" dirty="0">
                <a:solidFill>
                  <a:srgbClr val="B0A8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1097280" y="4160520"/>
            <a:ext cx="3657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Advisor: Prof. Eric Gerber</a:t>
            </a:r>
            <a:r>
              <a:rPr lang="en-US" sz="3200" dirty="0">
                <a:solidFill>
                  <a:srgbClr val="B0A8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|  Khoury College of Computer Sciences, Northeastern University   </a:t>
            </a:r>
            <a:endParaRPr lang="en-US" sz="3600" dirty="0"/>
          </a:p>
        </p:txBody>
      </p:sp>
      <p:sp>
        <p:nvSpPr>
          <p:cNvPr id="7" name="Shape 5"/>
          <p:cNvSpPr/>
          <p:nvPr/>
        </p:nvSpPr>
        <p:spPr>
          <a:xfrm>
            <a:off x="731520" y="5943600"/>
            <a:ext cx="12588240" cy="6877050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731520" y="5943600"/>
            <a:ext cx="146304" cy="6877050"/>
          </a:xfrm>
          <a:prstGeom prst="rect">
            <a:avLst/>
          </a:prstGeom>
          <a:solidFill>
            <a:srgbClr val="00206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1143000" y="6217920"/>
            <a:ext cx="11948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b="1" dirty="0">
                <a:solidFill>
                  <a:srgbClr val="00206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Introduction &amp; Motivation</a:t>
            </a:r>
            <a:endParaRPr lang="en-US" sz="5400" dirty="0">
              <a:solidFill>
                <a:srgbClr val="002060"/>
              </a:solidFill>
            </a:endParaRPr>
          </a:p>
        </p:txBody>
      </p:sp>
      <p:sp>
        <p:nvSpPr>
          <p:cNvPr id="10" name="Text 8"/>
          <p:cNvSpPr/>
          <p:nvPr/>
        </p:nvSpPr>
        <p:spPr>
          <a:xfrm>
            <a:off x="1188720" y="7360920"/>
            <a:ext cx="117652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3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MLB Draft (~600 picks, 20 rounds) determines which amateur players go professional. Draft likelihood is critical for college athletes deciding whether to enter the professional leagues or return to school.</a:t>
            </a:r>
            <a:endParaRPr lang="en-US" sz="3200" dirty="0"/>
          </a:p>
          <a:p>
            <a:pPr marL="0" indent="0">
              <a:lnSpc>
                <a:spcPct val="130000"/>
              </a:lnSpc>
              <a:buNone/>
            </a:pPr>
            <a:endParaRPr lang="en-US" sz="32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3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work contributes:</a:t>
            </a:r>
            <a:endParaRPr lang="en-US" sz="32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3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An XGBoost draft classifier (</a:t>
            </a:r>
            <a:r>
              <a:rPr lang="en-US" sz="3200" b="1" i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88.2% accuracy</a:t>
            </a:r>
            <a:r>
              <a:rPr lang="en-US" sz="3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endParaRPr lang="en-US" sz="32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3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A college draft order regressor (</a:t>
            </a:r>
            <a:r>
              <a:rPr lang="en-US" sz="3200" b="1" i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ρ = 0.700</a:t>
            </a:r>
            <a:r>
              <a:rPr lang="en-US" sz="3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endParaRPr lang="en-US" sz="32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3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A signing bonus predictor (</a:t>
            </a:r>
            <a:r>
              <a:rPr lang="en-US" sz="3200" b="1" i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ρ = 0.734</a:t>
            </a:r>
            <a:r>
              <a:rPr lang="en-US" sz="3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endParaRPr lang="en-US" sz="3200" dirty="0"/>
          </a:p>
        </p:txBody>
      </p:sp>
      <p:sp>
        <p:nvSpPr>
          <p:cNvPr id="11" name="Shape 9"/>
          <p:cNvSpPr/>
          <p:nvPr/>
        </p:nvSpPr>
        <p:spPr>
          <a:xfrm>
            <a:off x="731520" y="13277850"/>
            <a:ext cx="12588240" cy="8686800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731520" y="13277850"/>
            <a:ext cx="146304" cy="8686800"/>
          </a:xfrm>
          <a:prstGeom prst="rect">
            <a:avLst/>
          </a:prstGeom>
          <a:solidFill>
            <a:srgbClr val="00206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1143000" y="13552170"/>
            <a:ext cx="11948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b="1" dirty="0">
                <a:solidFill>
                  <a:srgbClr val="00206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 Collection &amp; Features</a:t>
            </a:r>
            <a:endParaRPr lang="en-US" sz="5400" dirty="0">
              <a:solidFill>
                <a:srgbClr val="002060"/>
              </a:solidFill>
            </a:endParaRPr>
          </a:p>
        </p:txBody>
      </p:sp>
      <p:sp>
        <p:nvSpPr>
          <p:cNvPr id="14" name="Text 12"/>
          <p:cNvSpPr/>
          <p:nvPr/>
        </p:nvSpPr>
        <p:spPr>
          <a:xfrm>
            <a:off x="1188720" y="14695170"/>
            <a:ext cx="11765280" cy="7040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3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Source: </a:t>
            </a:r>
            <a:r>
              <a:rPr lang="en-US" sz="3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ncaa_bbstats open-source Python package aggregating NCAA Stats, FanGraphs, and MLB Draft data.</a:t>
            </a:r>
            <a:endParaRPr lang="en-US" sz="3200" dirty="0"/>
          </a:p>
          <a:p>
            <a:pPr marL="0" indent="0">
              <a:lnSpc>
                <a:spcPct val="130000"/>
              </a:lnSpc>
              <a:buNone/>
            </a:pPr>
            <a:endParaRPr lang="en-US" sz="32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3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Dataset: </a:t>
            </a:r>
            <a:r>
              <a:rPr lang="en-US" sz="3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16,728 player-seasons (1,438 drafted — 8.6%). Restricted to 2021–2025 to avoid equipment-era confounds and post-Covid changes.</a:t>
            </a:r>
            <a:endParaRPr lang="en-US" sz="3200" dirty="0"/>
          </a:p>
          <a:p>
            <a:pPr marL="0" indent="0">
              <a:lnSpc>
                <a:spcPct val="130000"/>
              </a:lnSpc>
              <a:buNone/>
            </a:pPr>
            <a:endParaRPr lang="en-US" sz="32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3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81 Features:</a:t>
            </a:r>
            <a:endParaRPr lang="en-US" sz="32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3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33 player stats (ERA, WHIP, FIP, K%, wRC+, OPS)</a:t>
            </a:r>
            <a:endParaRPr lang="en-US" sz="32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3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48 team stats (win%, conf. RPI, Pythagorean expectation)</a:t>
            </a:r>
            <a:endParaRPr lang="en-US" sz="32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3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Physical attributes (height, weight, handedness), only for drafted</a:t>
            </a:r>
            <a:endParaRPr lang="en-US" sz="3200" dirty="0"/>
          </a:p>
        </p:txBody>
      </p:sp>
      <p:sp>
        <p:nvSpPr>
          <p:cNvPr id="15" name="Shape 13"/>
          <p:cNvSpPr/>
          <p:nvPr/>
        </p:nvSpPr>
        <p:spPr>
          <a:xfrm>
            <a:off x="731520" y="22421850"/>
            <a:ext cx="12588240" cy="7844790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731520" y="22421850"/>
            <a:ext cx="146304" cy="7844790"/>
          </a:xfrm>
          <a:prstGeom prst="rect">
            <a:avLst/>
          </a:prstGeom>
          <a:solidFill>
            <a:srgbClr val="00206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1143000" y="22650450"/>
            <a:ext cx="11948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002060"/>
                </a:solidFill>
                <a:latin typeface="Georgia" panose="02040502050405020303" pitchFamily="18" charset="0"/>
              </a:rPr>
              <a:t>Pitching Features by Predicted Draft Status</a:t>
            </a:r>
          </a:p>
        </p:txBody>
      </p:sp>
      <p:sp>
        <p:nvSpPr>
          <p:cNvPr id="20" name="Shape 18"/>
          <p:cNvSpPr/>
          <p:nvPr/>
        </p:nvSpPr>
        <p:spPr>
          <a:xfrm>
            <a:off x="13822680" y="5943600"/>
            <a:ext cx="12588240" cy="8961120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13822680" y="5943600"/>
            <a:ext cx="146304" cy="8961120"/>
          </a:xfrm>
          <a:prstGeom prst="rect">
            <a:avLst/>
          </a:prstGeom>
          <a:solidFill>
            <a:srgbClr val="C8102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14234160" y="6217920"/>
            <a:ext cx="11948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b="1" dirty="0">
                <a:solidFill>
                  <a:srgbClr val="C810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Methods</a:t>
            </a:r>
            <a:endParaRPr lang="en-US" sz="5400" dirty="0"/>
          </a:p>
        </p:txBody>
      </p:sp>
      <p:sp>
        <p:nvSpPr>
          <p:cNvPr id="23" name="Text 21"/>
          <p:cNvSpPr/>
          <p:nvPr/>
        </p:nvSpPr>
        <p:spPr>
          <a:xfrm>
            <a:off x="14279880" y="7360920"/>
            <a:ext cx="11765280" cy="7315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36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Three-Stage XGBoost Pipeline:</a:t>
            </a:r>
            <a:endParaRPr lang="en-US" sz="32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3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1 — Draft Probability Classifier</a:t>
            </a:r>
            <a:endParaRPr lang="en-US" sz="32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3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Binary classification on balanced data (undersampled to 1,438 per class). 80/20 stratified split.</a:t>
            </a:r>
            <a:endParaRPr lang="en-US" sz="3200" dirty="0"/>
          </a:p>
          <a:p>
            <a:pPr marL="0" indent="0">
              <a:lnSpc>
                <a:spcPct val="130000"/>
              </a:lnSpc>
              <a:buNone/>
            </a:pPr>
            <a:endParaRPr lang="en-US" sz="32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3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2 — College Draft Order Regressor</a:t>
            </a:r>
            <a:endParaRPr lang="en-US" sz="32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3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Ranks among college players only. Leave-one-year-out evaluation (train 2021–2024, test 2025).</a:t>
            </a:r>
            <a:endParaRPr lang="en-US" sz="3200" dirty="0"/>
          </a:p>
          <a:p>
            <a:pPr marL="0" indent="0">
              <a:lnSpc>
                <a:spcPct val="130000"/>
              </a:lnSpc>
              <a:buNone/>
            </a:pPr>
            <a:endParaRPr lang="en-US" sz="32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3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3 — Signing Bonus Regressor</a:t>
            </a:r>
            <a:endParaRPr lang="en-US" sz="32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3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Log-transformed target with early stopping on validation MAE.</a:t>
            </a:r>
            <a:endParaRPr lang="en-US" sz="3200" dirty="0"/>
          </a:p>
        </p:txBody>
      </p:sp>
      <p:sp>
        <p:nvSpPr>
          <p:cNvPr id="24" name="Shape 22"/>
          <p:cNvSpPr/>
          <p:nvPr/>
        </p:nvSpPr>
        <p:spPr>
          <a:xfrm>
            <a:off x="13822680" y="15361920"/>
            <a:ext cx="12588240" cy="14904720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13822680" y="15361920"/>
            <a:ext cx="146304" cy="14904720"/>
          </a:xfrm>
          <a:prstGeom prst="rect">
            <a:avLst/>
          </a:prstGeom>
          <a:solidFill>
            <a:srgbClr val="C8102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14234160" y="15636240"/>
            <a:ext cx="11948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b="1" dirty="0">
                <a:solidFill>
                  <a:srgbClr val="C810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Results</a:t>
            </a:r>
            <a:endParaRPr lang="en-US" sz="5400" dirty="0"/>
          </a:p>
        </p:txBody>
      </p:sp>
      <p:sp>
        <p:nvSpPr>
          <p:cNvPr id="36" name="Text 34"/>
          <p:cNvSpPr/>
          <p:nvPr/>
        </p:nvSpPr>
        <p:spPr>
          <a:xfrm>
            <a:off x="14398752" y="16479941"/>
            <a:ext cx="1158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F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Classifier (Balanced Dataset)</a:t>
            </a:r>
            <a:endParaRPr lang="en-US" sz="2800" dirty="0"/>
          </a:p>
        </p:txBody>
      </p:sp>
      <p:graphicFrame>
        <p:nvGraphicFramePr>
          <p:cNvPr id="3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83321114"/>
              </p:ext>
            </p:extLst>
          </p:nvPr>
        </p:nvGraphicFramePr>
        <p:xfrm>
          <a:off x="14398753" y="17165741"/>
          <a:ext cx="11582400" cy="1691640"/>
        </p:xfrm>
        <a:graphic>
          <a:graphicData uri="http://schemas.openxmlformats.org/drawingml/2006/table">
            <a:tbl>
              <a:tblPr/>
              <a:tblGrid>
                <a:gridCol w="274836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5389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5758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612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612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943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3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Precision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3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Recall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3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F1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3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3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Drafted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0.901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0.858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0.879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288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4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Drafted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0.864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0.906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0.885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288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38" name="Text 35"/>
          <p:cNvSpPr/>
          <p:nvPr/>
        </p:nvSpPr>
        <p:spPr>
          <a:xfrm>
            <a:off x="14398752" y="18992850"/>
            <a:ext cx="1158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F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Order Regressor (2025 Test)</a:t>
            </a:r>
            <a:endParaRPr lang="en-US" sz="2800" dirty="0"/>
          </a:p>
        </p:txBody>
      </p:sp>
      <p:graphicFrame>
        <p:nvGraphicFramePr>
          <p:cNvPr id="3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64858169"/>
              </p:ext>
            </p:extLst>
          </p:nvPr>
        </p:nvGraphicFramePr>
        <p:xfrm>
          <a:off x="14398752" y="19678650"/>
          <a:ext cx="11582400" cy="1691640"/>
        </p:xfrm>
        <a:graphic>
          <a:graphicData uri="http://schemas.openxmlformats.org/drawingml/2006/table">
            <a:tbl>
              <a:tblPr/>
              <a:tblGrid>
                <a:gridCol w="427219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9750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51269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943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Comparison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3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Spearman ρ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3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MAE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3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4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XGBoost Model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0.700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47.2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MLB Pipeline*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0.658 vs 0.841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17.3 vs 11.3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40" name="Text 36"/>
          <p:cNvSpPr/>
          <p:nvPr/>
        </p:nvSpPr>
        <p:spPr>
          <a:xfrm>
            <a:off x="14398752" y="21503640"/>
            <a:ext cx="1158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*98 matched players from MLB Pipeline Top 250</a:t>
            </a:r>
            <a:endParaRPr lang="en-US" sz="2000" dirty="0"/>
          </a:p>
        </p:txBody>
      </p:sp>
      <p:sp>
        <p:nvSpPr>
          <p:cNvPr id="41" name="Text 37"/>
          <p:cNvSpPr/>
          <p:nvPr/>
        </p:nvSpPr>
        <p:spPr>
          <a:xfrm>
            <a:off x="14398752" y="26333245"/>
            <a:ext cx="1158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F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Signing Bonus Regressor (n = 273)</a:t>
            </a:r>
            <a:endParaRPr lang="en-US" sz="2800" dirty="0"/>
          </a:p>
        </p:txBody>
      </p:sp>
      <p:sp>
        <p:nvSpPr>
          <p:cNvPr id="42" name="Shape 38"/>
          <p:cNvSpPr/>
          <p:nvPr/>
        </p:nvSpPr>
        <p:spPr>
          <a:xfrm>
            <a:off x="14398752" y="27064765"/>
            <a:ext cx="3708400" cy="2560320"/>
          </a:xfrm>
          <a:prstGeom prst="rect">
            <a:avLst/>
          </a:prstGeom>
          <a:solidFill>
            <a:srgbClr val="FFF0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3" name="Text 39"/>
          <p:cNvSpPr/>
          <p:nvPr/>
        </p:nvSpPr>
        <p:spPr>
          <a:xfrm>
            <a:off x="14398752" y="27201925"/>
            <a:ext cx="3708400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400" b="1" dirty="0">
                <a:solidFill>
                  <a:srgbClr val="0F23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$370K*</a:t>
            </a:r>
            <a:endParaRPr lang="en-US" sz="6400" dirty="0"/>
          </a:p>
        </p:txBody>
      </p:sp>
      <p:sp>
        <p:nvSpPr>
          <p:cNvPr id="44" name="Text 40"/>
          <p:cNvSpPr/>
          <p:nvPr/>
        </p:nvSpPr>
        <p:spPr>
          <a:xfrm>
            <a:off x="14398752" y="28564381"/>
            <a:ext cx="3708400" cy="9729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4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Absolute</a:t>
            </a:r>
            <a:endParaRPr lang="en-US" sz="2400" dirty="0"/>
          </a:p>
          <a:p>
            <a:pPr marL="0" indent="0" algn="ctr">
              <a:buNone/>
            </a:pPr>
            <a:r>
              <a:rPr lang="en-US" sz="24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</a:t>
            </a:r>
            <a:endParaRPr lang="en-US" sz="2400" dirty="0"/>
          </a:p>
        </p:txBody>
      </p:sp>
      <p:sp>
        <p:nvSpPr>
          <p:cNvPr id="45" name="Shape 41"/>
          <p:cNvSpPr/>
          <p:nvPr/>
        </p:nvSpPr>
        <p:spPr>
          <a:xfrm>
            <a:off x="18335752" y="27064765"/>
            <a:ext cx="3708400" cy="2560320"/>
          </a:xfrm>
          <a:prstGeom prst="rect">
            <a:avLst/>
          </a:prstGeom>
          <a:solidFill>
            <a:srgbClr val="FFF0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6" name="Text 42"/>
          <p:cNvSpPr/>
          <p:nvPr/>
        </p:nvSpPr>
        <p:spPr>
          <a:xfrm>
            <a:off x="18335752" y="27201925"/>
            <a:ext cx="3708400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400" b="1" dirty="0">
                <a:solidFill>
                  <a:srgbClr val="0F23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0.448</a:t>
            </a:r>
            <a:endParaRPr lang="en-US" sz="6400" dirty="0"/>
          </a:p>
        </p:txBody>
      </p:sp>
      <p:sp>
        <p:nvSpPr>
          <p:cNvPr id="47" name="Text 43"/>
          <p:cNvSpPr/>
          <p:nvPr/>
        </p:nvSpPr>
        <p:spPr>
          <a:xfrm>
            <a:off x="18335752" y="28564381"/>
            <a:ext cx="3708400" cy="9729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4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R² Score</a:t>
            </a:r>
            <a:endParaRPr lang="en-US" sz="2400" dirty="0"/>
          </a:p>
        </p:txBody>
      </p:sp>
      <p:sp>
        <p:nvSpPr>
          <p:cNvPr id="48" name="Shape 44"/>
          <p:cNvSpPr/>
          <p:nvPr/>
        </p:nvSpPr>
        <p:spPr>
          <a:xfrm>
            <a:off x="22272752" y="27064765"/>
            <a:ext cx="3708400" cy="2560320"/>
          </a:xfrm>
          <a:prstGeom prst="rect">
            <a:avLst/>
          </a:prstGeom>
          <a:solidFill>
            <a:srgbClr val="FFF0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9" name="Text 45"/>
          <p:cNvSpPr/>
          <p:nvPr/>
        </p:nvSpPr>
        <p:spPr>
          <a:xfrm>
            <a:off x="22272752" y="27201925"/>
            <a:ext cx="3708400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0" b="1" dirty="0">
                <a:solidFill>
                  <a:srgbClr val="0F23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0.734</a:t>
            </a:r>
            <a:endParaRPr lang="en-US" sz="6000" dirty="0"/>
          </a:p>
        </p:txBody>
      </p:sp>
      <p:sp>
        <p:nvSpPr>
          <p:cNvPr id="50" name="Text 46"/>
          <p:cNvSpPr/>
          <p:nvPr/>
        </p:nvSpPr>
        <p:spPr>
          <a:xfrm>
            <a:off x="22272752" y="28564381"/>
            <a:ext cx="3708400" cy="9729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4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Spearman</a:t>
            </a:r>
            <a:endParaRPr lang="en-US" sz="2400" dirty="0"/>
          </a:p>
          <a:p>
            <a:pPr marL="0" indent="0" algn="ctr">
              <a:buNone/>
            </a:pPr>
            <a:r>
              <a:rPr lang="en-US" sz="24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Correlation</a:t>
            </a:r>
            <a:endParaRPr lang="en-US" sz="2400" dirty="0"/>
          </a:p>
        </p:txBody>
      </p:sp>
      <p:sp>
        <p:nvSpPr>
          <p:cNvPr id="51" name="Shape 47"/>
          <p:cNvSpPr/>
          <p:nvPr/>
        </p:nvSpPr>
        <p:spPr>
          <a:xfrm>
            <a:off x="26913840" y="5943600"/>
            <a:ext cx="12588240" cy="7844790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2" name="Shape 48"/>
          <p:cNvSpPr/>
          <p:nvPr/>
        </p:nvSpPr>
        <p:spPr>
          <a:xfrm>
            <a:off x="26913840" y="5943600"/>
            <a:ext cx="146304" cy="7844790"/>
          </a:xfrm>
          <a:prstGeom prst="rect">
            <a:avLst/>
          </a:prstGeom>
          <a:solidFill>
            <a:srgbClr val="00206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3" name="Text 49"/>
          <p:cNvSpPr/>
          <p:nvPr/>
        </p:nvSpPr>
        <p:spPr>
          <a:xfrm>
            <a:off x="27325320" y="6217920"/>
            <a:ext cx="11948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b="1" dirty="0">
                <a:solidFill>
                  <a:srgbClr val="00206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Feature Importance</a:t>
            </a:r>
            <a:endParaRPr lang="en-US" sz="5400" dirty="0">
              <a:solidFill>
                <a:srgbClr val="002060"/>
              </a:solidFill>
            </a:endParaRPr>
          </a:p>
        </p:txBody>
      </p:sp>
      <p:graphicFrame>
        <p:nvGraphicFramePr>
          <p:cNvPr id="54" name="Chart 0"/>
          <p:cNvGraphicFramePr/>
          <p:nvPr>
            <p:extLst>
              <p:ext uri="{D42A27DB-BD31-4B8C-83A1-F6EECF244321}">
                <p14:modId xmlns:p14="http://schemas.microsoft.com/office/powerpoint/2010/main" val="3392910100"/>
              </p:ext>
            </p:extLst>
          </p:nvPr>
        </p:nvGraphicFramePr>
        <p:xfrm>
          <a:off x="27325320" y="7406640"/>
          <a:ext cx="11765280" cy="41148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5" name="Text 50"/>
          <p:cNvSpPr/>
          <p:nvPr/>
        </p:nvSpPr>
        <p:spPr>
          <a:xfrm>
            <a:off x="27371040" y="11612880"/>
            <a:ext cx="117652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32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 dominates all three models. </a:t>
            </a:r>
            <a:r>
              <a:rPr lang="en-US" sz="3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Batting metrics (</a:t>
            </a:r>
            <a:r>
              <a:rPr lang="en-US" sz="3200" dirty="0" err="1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wRC</a:t>
            </a:r>
            <a:r>
              <a:rPr lang="en-US" sz="3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H, SLG, R) and strikeout ability (SO) are strong secondary predictors. Team context (conf. RPI, conf. Rank) confirms scouts evaluate relative to competition.</a:t>
            </a:r>
            <a:endParaRPr lang="en-US" sz="3200" dirty="0"/>
          </a:p>
        </p:txBody>
      </p:sp>
      <p:sp>
        <p:nvSpPr>
          <p:cNvPr id="56" name="Shape 51"/>
          <p:cNvSpPr/>
          <p:nvPr/>
        </p:nvSpPr>
        <p:spPr>
          <a:xfrm>
            <a:off x="26913840" y="14218920"/>
            <a:ext cx="12588240" cy="5486400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7" name="Shape 52"/>
          <p:cNvSpPr/>
          <p:nvPr/>
        </p:nvSpPr>
        <p:spPr>
          <a:xfrm>
            <a:off x="26913840" y="14218920"/>
            <a:ext cx="146304" cy="5486400"/>
          </a:xfrm>
          <a:prstGeom prst="rect">
            <a:avLst/>
          </a:prstGeom>
          <a:solidFill>
            <a:srgbClr val="00206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8" name="Text 53"/>
          <p:cNvSpPr/>
          <p:nvPr/>
        </p:nvSpPr>
        <p:spPr>
          <a:xfrm>
            <a:off x="27325320" y="14493240"/>
            <a:ext cx="11948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300" b="1" dirty="0">
                <a:solidFill>
                  <a:srgbClr val="00206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Interaction PDP: Draft Probability</a:t>
            </a:r>
            <a:endParaRPr lang="en-US" sz="5300" dirty="0">
              <a:solidFill>
                <a:srgbClr val="002060"/>
              </a:solidFill>
            </a:endParaRPr>
          </a:p>
        </p:txBody>
      </p:sp>
      <p:sp>
        <p:nvSpPr>
          <p:cNvPr id="61" name="Shape 56"/>
          <p:cNvSpPr/>
          <p:nvPr/>
        </p:nvSpPr>
        <p:spPr>
          <a:xfrm>
            <a:off x="26913840" y="20162520"/>
            <a:ext cx="12588240" cy="4754880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2" name="Shape 57"/>
          <p:cNvSpPr/>
          <p:nvPr/>
        </p:nvSpPr>
        <p:spPr>
          <a:xfrm>
            <a:off x="26913840" y="20162520"/>
            <a:ext cx="146304" cy="4754880"/>
          </a:xfrm>
          <a:prstGeom prst="rect">
            <a:avLst/>
          </a:prstGeom>
          <a:solidFill>
            <a:srgbClr val="00206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3" name="Text 58"/>
          <p:cNvSpPr/>
          <p:nvPr/>
        </p:nvSpPr>
        <p:spPr>
          <a:xfrm>
            <a:off x="27325320" y="20436840"/>
            <a:ext cx="11948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b="1" dirty="0">
                <a:solidFill>
                  <a:srgbClr val="00206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Future Work</a:t>
            </a:r>
            <a:endParaRPr lang="en-US" sz="5400" dirty="0">
              <a:solidFill>
                <a:srgbClr val="002060"/>
              </a:solidFill>
            </a:endParaRPr>
          </a:p>
        </p:txBody>
      </p:sp>
      <p:sp>
        <p:nvSpPr>
          <p:cNvPr id="64" name="Text 59"/>
          <p:cNvSpPr/>
          <p:nvPr/>
        </p:nvSpPr>
        <p:spPr>
          <a:xfrm>
            <a:off x="27371040" y="21579840"/>
            <a:ext cx="1176528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514350" indent="-514350">
              <a:lnSpc>
                <a:spcPct val="130000"/>
              </a:lnSpc>
              <a:buAutoNum type="arabicPeriod"/>
            </a:pPr>
            <a:r>
              <a:rPr lang="en-US" sz="3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Integrate with Prof. Gerber’s MLB draft → MiLB risks framework</a:t>
            </a:r>
          </a:p>
          <a:p>
            <a:pPr marL="514350" indent="-514350">
              <a:lnSpc>
                <a:spcPct val="130000"/>
              </a:lnSpc>
              <a:buAutoNum type="arabicPeriod"/>
            </a:pPr>
            <a:r>
              <a:rPr lang="en-US" sz="3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Gather more data in upcoming years to compare trends</a:t>
            </a:r>
          </a:p>
          <a:p>
            <a:pPr marL="514350" indent="-514350">
              <a:lnSpc>
                <a:spcPct val="130000"/>
              </a:lnSpc>
              <a:buAutoNum type="arabicPeriod"/>
            </a:pPr>
            <a:r>
              <a:rPr lang="en-US" sz="3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decade or so, look back and assess model’s accuracy in predicting if a player was under- or over-valued </a:t>
            </a:r>
            <a:endParaRPr lang="en-US" sz="32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3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Submit to the Journal of Sports Analytics</a:t>
            </a:r>
            <a:endParaRPr lang="en-US" sz="3200" dirty="0"/>
          </a:p>
        </p:txBody>
      </p:sp>
      <p:sp>
        <p:nvSpPr>
          <p:cNvPr id="65" name="Shape 60"/>
          <p:cNvSpPr/>
          <p:nvPr/>
        </p:nvSpPr>
        <p:spPr>
          <a:xfrm>
            <a:off x="26913840" y="25374600"/>
            <a:ext cx="12588240" cy="4892040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6" name="Shape 61"/>
          <p:cNvSpPr/>
          <p:nvPr/>
        </p:nvSpPr>
        <p:spPr>
          <a:xfrm>
            <a:off x="26913840" y="25374600"/>
            <a:ext cx="146304" cy="4892040"/>
          </a:xfrm>
          <a:prstGeom prst="rect">
            <a:avLst/>
          </a:prstGeom>
          <a:solidFill>
            <a:srgbClr val="B0A89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7" name="Text 62"/>
          <p:cNvSpPr/>
          <p:nvPr/>
        </p:nvSpPr>
        <p:spPr>
          <a:xfrm>
            <a:off x="27325320" y="25560429"/>
            <a:ext cx="11948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b="1" dirty="0">
                <a:solidFill>
                  <a:srgbClr val="B0A89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References</a:t>
            </a:r>
            <a:endParaRPr lang="en-US" sz="5400" dirty="0">
              <a:solidFill>
                <a:srgbClr val="B0A898"/>
              </a:solidFill>
            </a:endParaRPr>
          </a:p>
        </p:txBody>
      </p:sp>
      <p:sp>
        <p:nvSpPr>
          <p:cNvPr id="68" name="Text 63"/>
          <p:cNvSpPr/>
          <p:nvPr/>
        </p:nvSpPr>
        <p:spPr>
          <a:xfrm>
            <a:off x="27325320" y="26563320"/>
            <a:ext cx="1176528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2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[1] Gerber, Eric (2023). Competing Risks Analysis of MLB Draft Data.</a:t>
            </a:r>
            <a:endParaRPr lang="en-US" sz="22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2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[2] Biggs, M (2025). ncaa_bbstats Python package (1. 1. 0). </a:t>
            </a:r>
            <a:r>
              <a:rPr lang="en-US" sz="2250" i="1" dirty="0" err="1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Zenodo</a:t>
            </a:r>
            <a:r>
              <a:rPr lang="en-US" sz="2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22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2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[3] Zhao, W., Akella, V. S., Yang, S., &amp; Luo, X. (2025). Machine Learning in Baseball Analytics: Sabermetrics and Beyond. </a:t>
            </a:r>
            <a:r>
              <a:rPr lang="en-US" sz="2250" i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Information</a:t>
            </a:r>
            <a:r>
              <a:rPr lang="en-US" sz="2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22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2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[4] Penn, Matthew (2023). The Value of Playing in College Baseball to Major League Baseball Organizations. </a:t>
            </a:r>
            <a:r>
              <a:rPr lang="en-US" sz="2250" i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Renée Crown University Honors Thesis Projects.</a:t>
            </a:r>
            <a:endParaRPr lang="en-US" sz="22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2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[5] Seneker, Derek (2025). Maximizing the MLB Draft: How College Performance and Leverage Impact </a:t>
            </a:r>
            <a:r>
              <a:rPr lang="en-US" sz="2250" dirty="0" err="1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Polayer</a:t>
            </a:r>
            <a:r>
              <a:rPr lang="en-US" sz="2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Signing Bonus and Team Payoff. </a:t>
            </a:r>
            <a:r>
              <a:rPr lang="en-US" sz="2250" i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CMC Senior Theses.</a:t>
            </a:r>
            <a:endParaRPr lang="en-US" sz="2250" dirty="0"/>
          </a:p>
        </p:txBody>
      </p:sp>
      <p:sp>
        <p:nvSpPr>
          <p:cNvPr id="69" name="Shape 64"/>
          <p:cNvSpPr/>
          <p:nvPr/>
        </p:nvSpPr>
        <p:spPr>
          <a:xfrm>
            <a:off x="0" y="30815280"/>
            <a:ext cx="40233600" cy="731520"/>
          </a:xfrm>
          <a:prstGeom prst="rect">
            <a:avLst/>
          </a:prstGeom>
          <a:solidFill>
            <a:srgbClr val="0F234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0" name="Text 65"/>
          <p:cNvSpPr/>
          <p:nvPr/>
        </p:nvSpPr>
        <p:spPr>
          <a:xfrm>
            <a:off x="914400" y="30815280"/>
            <a:ext cx="38404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RISE 2026  •  Northeastern University  •  Khoury College of Computer Sciences</a:t>
            </a:r>
            <a:endParaRPr lang="en-US" sz="2400" dirty="0"/>
          </a:p>
        </p:txBody>
      </p:sp>
      <p:pic>
        <p:nvPicPr>
          <p:cNvPr id="86" name="Picture 85">
            <a:extLst>
              <a:ext uri="{FF2B5EF4-FFF2-40B4-BE49-F238E27FC236}">
                <a16:creationId xmlns:a16="http://schemas.microsoft.com/office/drawing/2014/main" id="{3BB9CE7F-3B63-E01F-B3C1-71B8546BBEE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471100" y="487677"/>
            <a:ext cx="4019551" cy="4019551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78B42403-E56F-977B-1355-B99591961F5E}"/>
              </a:ext>
            </a:extLst>
          </p:cNvPr>
          <p:cNvPicPr>
            <a:picLocks/>
          </p:cNvPicPr>
          <p:nvPr/>
        </p:nvPicPr>
        <p:blipFill>
          <a:blip r:embed="rId5"/>
          <a:srcRect t="10251" r="66598"/>
          <a:stretch>
            <a:fillRect/>
          </a:stretch>
        </p:blipFill>
        <p:spPr>
          <a:xfrm>
            <a:off x="27137358" y="15354407"/>
            <a:ext cx="6217920" cy="4323669"/>
          </a:xfrm>
          <a:prstGeom prst="rect">
            <a:avLst/>
          </a:prstGeom>
        </p:spPr>
      </p:pic>
      <p:pic>
        <p:nvPicPr>
          <p:cNvPr id="79" name="Picture 78">
            <a:extLst>
              <a:ext uri="{FF2B5EF4-FFF2-40B4-BE49-F238E27FC236}">
                <a16:creationId xmlns:a16="http://schemas.microsoft.com/office/drawing/2014/main" id="{FECF5928-DD52-0529-5DC7-76AF812BB57C}"/>
              </a:ext>
            </a:extLst>
          </p:cNvPr>
          <p:cNvPicPr>
            <a:picLocks/>
          </p:cNvPicPr>
          <p:nvPr/>
        </p:nvPicPr>
        <p:blipFill>
          <a:blip r:embed="rId6"/>
          <a:srcRect l="66290" t="11000"/>
          <a:stretch>
            <a:fillRect/>
          </a:stretch>
        </p:blipFill>
        <p:spPr>
          <a:xfrm>
            <a:off x="33243522" y="15381651"/>
            <a:ext cx="6217920" cy="4323669"/>
          </a:xfrm>
          <a:prstGeom prst="rect">
            <a:avLst/>
          </a:prstGeom>
        </p:spPr>
      </p:pic>
      <p:sp>
        <p:nvSpPr>
          <p:cNvPr id="80" name="Text 36">
            <a:extLst>
              <a:ext uri="{FF2B5EF4-FFF2-40B4-BE49-F238E27FC236}">
                <a16:creationId xmlns:a16="http://schemas.microsoft.com/office/drawing/2014/main" id="{AC5D8A34-756F-E57E-068D-0FDE69162422}"/>
              </a:ext>
            </a:extLst>
          </p:cNvPr>
          <p:cNvSpPr/>
          <p:nvPr/>
        </p:nvSpPr>
        <p:spPr>
          <a:xfrm>
            <a:off x="14398752" y="29724145"/>
            <a:ext cx="1158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*Signing bonus range: $1,000 - $9,250,000</a:t>
            </a:r>
            <a:endParaRPr lang="en-US" sz="2000" dirty="0"/>
          </a:p>
        </p:txBody>
      </p:sp>
      <p:pic>
        <p:nvPicPr>
          <p:cNvPr id="82" name="Picture 81">
            <a:extLst>
              <a:ext uri="{FF2B5EF4-FFF2-40B4-BE49-F238E27FC236}">
                <a16:creationId xmlns:a16="http://schemas.microsoft.com/office/drawing/2014/main" id="{73370DD5-96EA-40C0-27D6-524011B5ADA6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4804" t="11071" r="1893" b="9809"/>
          <a:stretch>
            <a:fillRect/>
          </a:stretch>
        </p:blipFill>
        <p:spPr>
          <a:xfrm>
            <a:off x="914400" y="23930610"/>
            <a:ext cx="12405360" cy="6092190"/>
          </a:xfrm>
          <a:prstGeom prst="rect">
            <a:avLst/>
          </a:prstGeom>
        </p:spPr>
      </p:pic>
      <p:pic>
        <p:nvPicPr>
          <p:cNvPr id="84" name="Picture 83">
            <a:extLst>
              <a:ext uri="{FF2B5EF4-FFF2-40B4-BE49-F238E27FC236}">
                <a16:creationId xmlns:a16="http://schemas.microsoft.com/office/drawing/2014/main" id="{5A8680F8-B676-537D-E1F3-355382D9912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4279880" y="22076831"/>
            <a:ext cx="11811000" cy="432647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254</TotalTime>
  <Words>623</Words>
  <Application>Microsoft Macintosh PowerPoint</Application>
  <PresentationFormat>Custom</PresentationFormat>
  <Paragraphs>87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Georgia</vt:lpstr>
      <vt:lpstr>Office Theme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Predicting MLB Draft Outcomes for NCAA Baseball Players Using XGBoost</dc:title>
  <dc:subject>PptxGenJS Presentation</dc:subject>
  <dc:creator>Mateo Biggs</dc:creator>
  <cp:lastModifiedBy>Mateo Biggs</cp:lastModifiedBy>
  <cp:revision>16</cp:revision>
  <dcterms:created xsi:type="dcterms:W3CDTF">2026-04-01T22:17:42Z</dcterms:created>
  <dcterms:modified xsi:type="dcterms:W3CDTF">2026-05-25T08:26:11Z</dcterms:modified>
</cp:coreProperties>
</file>